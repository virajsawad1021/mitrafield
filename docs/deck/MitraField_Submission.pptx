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20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202124"/>
                </a:solidFill>
                <a:latin typeface="Google Sans Flex SemiBold"/>
              </a:rPr>
              <a:t>Model cost per finished video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cost (USD)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Sheet1!$A$2:$A$8</c:f>
              <c:strCache>
                <c:ptCount val="7"/>
                <c:pt idx="0">
                  <c:v>Tsunami · 0:46 · draft</c:v>
                </c:pt>
                <c:pt idx="1">
                  <c:v>Heart · 0:43 · draft</c:v>
                </c:pt>
                <c:pt idx="2">
                  <c:v>Vaccine Short · 0:54</c:v>
                </c:pt>
                <c:pt idx="3">
                  <c:v>Dead Sea · 2:35</c:v>
                </c:pt>
                <c:pt idx="4">
                  <c:v>Hormuz Hindi · 1:03</c:v>
                </c:pt>
                <c:pt idx="5">
                  <c:v>Internet · 0:55 · draft</c:v>
                </c:pt>
                <c:pt idx="6">
                  <c:v>Active noise · 2:17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1.18</c:v>
                </c:pt>
                <c:pt idx="1">
                  <c:v>0.83</c:v>
                </c:pt>
                <c:pt idx="2">
                  <c:v>1.4</c:v>
                </c:pt>
                <c:pt idx="3">
                  <c:v>1.56</c:v>
                </c:pt>
                <c:pt idx="4">
                  <c:v>1.63</c:v>
                </c:pt>
                <c:pt idx="5">
                  <c:v>1.7</c:v>
                </c:pt>
                <c:pt idx="6">
                  <c:v>2.8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900">
                  <a:solidFill>
                    <a:srgbClr val="202124"/>
                  </a:solidFill>
                  <a:latin typeface="Google Sans Fle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900">
                <a:solidFill>
                  <a:srgbClr val="3C4043"/>
                </a:solidFill>
                <a:latin typeface="Google Sans Flex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VirajSawad1021/MitraField" TargetMode="External"/><Relationship Id="rId6" Type="http://schemas.openxmlformats.org/officeDocument/2006/relationships/hyperlink" Target="https://github.com/VirajSawad1021/MitraField/blob/main/docs/demo-video/MitraField_Demo.mp4" TargetMode="External"/><Relationship Id="rId7" Type="http://schemas.openxmlformats.org/officeDocument/2006/relationships/hyperlink" Target="https://mitrafield-api-u6zih6e3hq-as.a.run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/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500">
                <a:solidFill>
                  <a:srgbClr val="202124"/>
                </a:solidFill>
                <a:latin typeface="Google Sans Flex SemiBold"/>
              </a:rPr>
              <a:t>The Mitra Team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500">
                <a:solidFill>
                  <a:srgbClr val="202124"/>
                </a:solidFill>
                <a:latin typeface="Google Sans Flex SemiBold"/>
              </a:rPr>
              <a:t>Gaurav Giri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500">
                <a:solidFill>
                  <a:srgbClr val="202124"/>
                </a:solidFill>
                <a:latin typeface="Google Sans Flex"/>
              </a:rPr>
              <a:t>Media, Content &amp; Digital Experiences. Correct explainer videos are slow and costly to make, and AI video gets facts wrong.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members: </a:t>
            </a:r>
            <a:r>
              <a:rPr sz="1500">
                <a:solidFill>
                  <a:srgbClr val="202124"/>
                </a:solidFill>
                <a:latin typeface="Google Sans Flex"/>
              </a:rPr>
              <a:t>Gaurav Giri (leader), Viraj Sawad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6616" y="118872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202124"/>
                </a:solidFill>
                <a:latin typeface="Google Sans Flex SemiBold"/>
              </a:rPr>
              <a:t>Ask a question. Get a correct, narrated explainer video.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6616" y="1938528"/>
            <a:ext cx="4160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Google Sans Flex"/>
              </a:rPr>
              <a:t>MitraField is an AI video studio. An AI director built on Gemini writes the script, chooses the right kind of picture for every scene and renders a finished video with narration, music and subtitles, in minutes.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6616" y="3090672"/>
            <a:ext cx="16687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466344" y="3209544"/>
            <a:ext cx="91440" cy="914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12648" y="3090672"/>
            <a:ext cx="13944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202124"/>
                </a:solidFill>
                <a:latin typeface="Google Sans Flex Medium"/>
              </a:rPr>
              <a:t>Real data for facts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16836" y="309067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2226564" y="3209544"/>
            <a:ext cx="91440" cy="9144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372868" y="309067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202124"/>
                </a:solidFill>
                <a:latin typeface="Google Sans Flex Medium"/>
              </a:rPr>
              <a:t>Your own voice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34156" y="3090672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643884" y="3209544"/>
            <a:ext cx="91440" cy="9144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790188" y="3090672"/>
            <a:ext cx="8458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202124"/>
                </a:solidFill>
                <a:latin typeface="Google Sans Flex Medium"/>
              </a:rPr>
              <a:t>9 languages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" y="363931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Problem: </a:t>
            </a:r>
            <a:r>
              <a:rPr sz="1150">
                <a:solidFill>
                  <a:srgbClr val="3C4043"/>
                </a:solidFill>
                <a:latin typeface="Google Sans Flex"/>
              </a:rPr>
              <a:t>a correct explainer takes a studio days; AI video tools are fast but invent numbers, maps and equations; most explainers are English-only.</a:t>
            </a:r>
          </a:p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For: </a:t>
            </a:r>
            <a:r>
              <a:rPr sz="1150">
                <a:solidFill>
                  <a:srgbClr val="3C4043"/>
                </a:solidFill>
                <a:latin typeface="Google Sans Flex"/>
              </a:rPr>
              <a:t>teachers, NGOs, newsrooms and creators across JAPAC.</a:t>
            </a:r>
          </a:p>
        </p:txBody>
      </p:sp>
      <p:pic>
        <p:nvPicPr>
          <p:cNvPr id="84" name="Picture 83" descr="studio.png"/>
          <p:cNvPicPr>
            <a:picLocks noChangeAspect="1"/>
          </p:cNvPicPr>
          <p:nvPr/>
        </p:nvPicPr>
        <p:blipFill>
          <a:blip r:embed="rId4"/>
          <a:srcRect b="4000"/>
          <a:stretch>
            <a:fillRect/>
          </a:stretch>
        </p:blipFill>
        <p:spPr>
          <a:xfrm>
            <a:off x="4754880" y="1188720"/>
            <a:ext cx="4041648" cy="252603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85" name="TextBox 84"/>
          <p:cNvSpPr txBox="1"/>
          <p:nvPr/>
        </p:nvSpPr>
        <p:spPr>
          <a:xfrm>
            <a:off x="4754880" y="3840480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5F6368"/>
                </a:solidFill>
                <a:latin typeface="Google Sans Flex"/>
              </a:rPr>
              <a:t>The studio: approve the storyboard, edit any scene, AI pictures labelled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56616" y="1234440"/>
            <a:ext cx="2724912" cy="3017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21208" y="1399032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40664" y="1344168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How is it different from existing ideas?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" y="1938528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>
                <a:solidFill>
                  <a:srgbClr val="1A73E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Picks the right kind of picture per scene: real maps, math animation, charts; AI imagery only for mood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1A73E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Full narrated explainers of 1 to 6 minutes, not 8-second clips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1A73E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Checks its own work: facts, picture and sound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55264" y="1234440"/>
            <a:ext cx="2724912" cy="3017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419856" y="1399032"/>
            <a:ext cx="128016" cy="12801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639312" y="1344168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How will it solve the problem?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19856" y="1938528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>
                <a:solidFill>
                  <a:srgbClr val="18803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Minutes instead of days, for about $1 to $3 a video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18803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Facts drawn from data and code, then fact-checked with Google Search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188038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One click makes a Hindi, Nepali or Bahasa version with the same visuals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53912" y="1234440"/>
            <a:ext cx="2724912" cy="3017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6318503" y="1399032"/>
            <a:ext cx="128016" cy="12801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537959" y="1344168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USP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18503" y="1938528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Correct, not just pretty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Narrated in your own cloned voice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An invisible watermark anyone can verify</a:t>
            </a:r>
          </a:p>
          <a:p>
            <a:pPr algn="l">
              <a:spcAft>
                <a:spcPts val="900"/>
              </a:spcAft>
            </a:pPr>
            <a:r>
              <a:rPr sz="120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200">
                <a:solidFill>
                  <a:srgbClr val="3C4043"/>
                </a:solidFill>
                <a:latin typeface="Google Sans Flex"/>
              </a:rPr>
              <a:t>You approve the plan first, then change any scene in plain words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6616" y="441655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Beautiful is easy. Correct is the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56616" y="12344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02920" y="1380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" y="139903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AI director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1764792"/>
            <a:ext cx="1719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Writes the storyboard from a question, notes or PDFs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487168" y="12344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2633472" y="1380744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99232" y="139903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Eleven kinds of visual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33472" y="1764792"/>
            <a:ext cx="1719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Real maps, math animation, charts, timelines, Veo clips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617720" y="12344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764024" y="1380744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29784" y="139903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Voice cloning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1764792"/>
            <a:ext cx="1719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Your voice from 15 seconds of speech, in English and Hindi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48272" y="12344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894576" y="1380744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60336" y="139903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One-click translation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94576" y="1764792"/>
            <a:ext cx="1719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Nine narration languages; the visuals are reused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56616" y="2743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502920" y="288950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" y="290779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Edit in plain words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3273552"/>
            <a:ext cx="171907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"Simpler", "show it on a map": only that scene re-renders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487168" y="2743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2633472" y="2889504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99232" y="290779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Fact and quality checks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33472" y="3273552"/>
            <a:ext cx="171907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Google Search grounding; Gemini reviews every scene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17720" y="2743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764024" y="2889504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29784" y="290779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Ten looks, one cast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4024" y="3273552"/>
            <a:ext cx="171907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The same characters and objects in every shot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48272" y="27432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6894576" y="2889504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60336" y="290779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Invisible watermark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94576" y="3273552"/>
            <a:ext cx="171907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C4043"/>
                </a:solidFill>
                <a:latin typeface="Google Sans Flex"/>
              </a:rPr>
              <a:t>Anyone can verify a copy on the Verify page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6616" y="43159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Also: </a:t>
            </a:r>
            <a:r>
              <a:rPr sz="1100">
                <a:solidFill>
                  <a:srgbClr val="3C4043"/>
                </a:solidFill>
                <a:latin typeface="Google Sans Flex"/>
              </a:rPr>
              <a:t>vertical Shorts, subtitles, a music bed, cost per video, spending caps, and it works on a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56616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66344" y="1435607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6344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  <a:latin typeface="Google Sans Flex SemiBold"/>
              </a:rPr>
              <a:t>Ask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F9AB00"/>
                </a:solidFill>
                <a:latin typeface="Google Sans Flex SemiBold"/>
              </a:rPr>
              <a:t>You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344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E8EAED"/>
                </a:solidFill>
                <a:latin typeface="Google Sans Flex"/>
              </a:rPr>
              <a:t>Question, notes or PDFs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1399032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1563624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1673352" y="1435607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73352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Storyboard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73352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73E8"/>
                </a:solidFill>
                <a:latin typeface="Google Sans Flex SemiBold"/>
              </a:rPr>
              <a:t>Gemini 3.1 Pro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73352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3C4043"/>
                </a:solidFill>
                <a:latin typeface="Google Sans Flex"/>
              </a:rPr>
              <a:t>Script and a picture per scene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2606040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" name="Rounded Rectangle 107"/>
          <p:cNvSpPr/>
          <p:nvPr/>
        </p:nvSpPr>
        <p:spPr>
          <a:xfrm>
            <a:off x="2770632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2880360" y="1435607"/>
            <a:ext cx="237744" cy="237744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80360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  <a:latin typeface="Google Sans Flex SemiBold"/>
              </a:rPr>
              <a:t>Approve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80360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F9AB00"/>
                </a:solidFill>
                <a:latin typeface="Google Sans Flex SemiBold"/>
              </a:rPr>
              <a:t>You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80360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E8EAED"/>
                </a:solidFill>
                <a:latin typeface="Google Sans Flex"/>
              </a:rPr>
              <a:t>Nothing is spent before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3813048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" name="Rounded Rectangle 113"/>
          <p:cNvSpPr/>
          <p:nvPr/>
        </p:nvSpPr>
        <p:spPr>
          <a:xfrm>
            <a:off x="3977639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4087368" y="1435607"/>
            <a:ext cx="237744" cy="237744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87368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Narrate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87368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73E8"/>
                </a:solidFill>
                <a:latin typeface="Google Sans Flex SemiBold"/>
              </a:rPr>
              <a:t>Cloned voice / Gemini TTS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87368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3C4043"/>
                </a:solidFill>
                <a:latin typeface="Google Sans Flex"/>
              </a:rPr>
              <a:t>Each line timed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5020055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5184648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5294376" y="1435607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94376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Render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94376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73E8"/>
                </a:solidFill>
                <a:latin typeface="Google Sans Flex SemiBold"/>
              </a:rPr>
              <a:t>Code · Nano Banana · Veo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94376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3C4043"/>
                </a:solidFill>
                <a:latin typeface="Google Sans Flex"/>
              </a:rPr>
              <a:t>Scenes in parallel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6227064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6391656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6501384" y="1435607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01384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Check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01384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73E8"/>
                </a:solidFill>
                <a:latin typeface="Google Sans Flex SemiBold"/>
              </a:rPr>
              <a:t>Gemini + Google Search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501384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3C4043"/>
                </a:solidFill>
                <a:latin typeface="Google Sans Flex"/>
              </a:rPr>
              <a:t>Quality and facts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7434071" y="2039112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" name="Rounded Rectangle 131"/>
          <p:cNvSpPr/>
          <p:nvPr/>
        </p:nvSpPr>
        <p:spPr>
          <a:xfrm>
            <a:off x="7598664" y="1325880"/>
            <a:ext cx="1024128" cy="15727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7708392" y="1435607"/>
            <a:ext cx="237744" cy="237744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Google Sans Flex SemiBold"/>
              </a:rPr>
              <a:t>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08392" y="175564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202124"/>
                </a:solidFill>
                <a:latin typeface="Google Sans Flex SemiBold"/>
              </a:rPr>
              <a:t>Export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08392" y="202082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>
                <a:solidFill>
                  <a:srgbClr val="1A73E8"/>
                </a:solidFill>
                <a:latin typeface="Google Sans Flex SemiBold"/>
              </a:rPr>
              <a:t>ffmpeg · Lyria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08392" y="2359152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3C4043"/>
                </a:solidFill>
                <a:latin typeface="Google Sans Flex"/>
              </a:rPr>
              <a:t>Music, subtitles, watermark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56616" y="3072384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521208" y="3227832"/>
            <a:ext cx="128016" cy="12801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40664" y="31729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Change one scene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21208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594360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Ask in plain words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1682496" y="3858768"/>
            <a:ext cx="128016" cy="128016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1828800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901952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Only that scene re-renders</a:t>
            </a:r>
          </a:p>
        </p:txBody>
      </p:sp>
      <p:sp>
        <p:nvSpPr>
          <p:cNvPr id="145" name="Right Arrow 144"/>
          <p:cNvSpPr/>
          <p:nvPr/>
        </p:nvSpPr>
        <p:spPr>
          <a:xfrm>
            <a:off x="2990088" y="3858768"/>
            <a:ext cx="128016" cy="128016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" name="Rounded Rectangle 145"/>
          <p:cNvSpPr/>
          <p:nvPr/>
        </p:nvSpPr>
        <p:spPr>
          <a:xfrm>
            <a:off x="3136391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3209544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Update video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672583" y="3072384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4837175" y="3227832"/>
            <a:ext cx="128016" cy="12801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5056631" y="31729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202124"/>
                </a:solidFill>
                <a:latin typeface="Google Sans Flex SemiBold"/>
              </a:rPr>
              <a:t>Translate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837175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910327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Pick a language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5998463" y="3858768"/>
            <a:ext cx="128016" cy="128016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" name="Rounded Rectangle 153"/>
          <p:cNvSpPr/>
          <p:nvPr/>
        </p:nvSpPr>
        <p:spPr>
          <a:xfrm>
            <a:off x="6144767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6217919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New narration, same visuals</a:t>
            </a:r>
          </a:p>
        </p:txBody>
      </p:sp>
      <p:sp>
        <p:nvSpPr>
          <p:cNvPr id="156" name="Right Arrow 155"/>
          <p:cNvSpPr/>
          <p:nvPr/>
        </p:nvSpPr>
        <p:spPr>
          <a:xfrm>
            <a:off x="7306055" y="3858768"/>
            <a:ext cx="128016" cy="128016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" name="Rounded Rectangle 156"/>
          <p:cNvSpPr/>
          <p:nvPr/>
        </p:nvSpPr>
        <p:spPr>
          <a:xfrm>
            <a:off x="7452359" y="3593592"/>
            <a:ext cx="1143000" cy="6583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525511" y="3593592"/>
            <a:ext cx="99669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>
                <a:solidFill>
                  <a:srgbClr val="202124"/>
                </a:solidFill>
                <a:latin typeface="Google Sans Flex Medium"/>
              </a:rPr>
              <a:t>Hindi / Nepali version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6616" y="45720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5F6368"/>
                </a:solidFill>
                <a:latin typeface="Google Sans Flex"/>
              </a:rPr>
              <a:t>Every scene is narrated first, so its picture is cut to the exact length of the sentence.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new.png"/>
          <p:cNvPicPr>
            <a:picLocks noChangeAspect="1"/>
          </p:cNvPicPr>
          <p:nvPr/>
        </p:nvPicPr>
        <p:blipFill>
          <a:blip r:embed="rId5"/>
          <a:srcRect l="12000" t="6000" r="12000" b="6000"/>
          <a:stretch>
            <a:fillRect/>
          </a:stretch>
        </p:blipFill>
        <p:spPr>
          <a:xfrm>
            <a:off x="356616" y="1234440"/>
            <a:ext cx="3611880" cy="225742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05" name="Picture 104" descr="studio.png"/>
          <p:cNvPicPr>
            <a:picLocks noChangeAspect="1"/>
          </p:cNvPicPr>
          <p:nvPr/>
        </p:nvPicPr>
        <p:blipFill>
          <a:blip r:embed="rId6"/>
          <a:srcRect t="4000" b="6000"/>
          <a:stretch>
            <a:fillRect/>
          </a:stretch>
        </p:blipFill>
        <p:spPr>
          <a:xfrm>
            <a:off x="4114800" y="1234440"/>
            <a:ext cx="3611880" cy="225742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06" name="Picture 105" descr="phone.png"/>
          <p:cNvPicPr>
            <a:picLocks noChangeAspect="1"/>
          </p:cNvPicPr>
          <p:nvPr/>
        </p:nvPicPr>
        <p:blipFill>
          <a:blip r:embed="rId7"/>
          <a:srcRect b="12000"/>
          <a:stretch>
            <a:fillRect/>
          </a:stretch>
        </p:blipFill>
        <p:spPr>
          <a:xfrm>
            <a:off x="7882127" y="1234440"/>
            <a:ext cx="1056327" cy="22860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356616" y="395020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1. Create: question, sources, instructions, narrator and look. The main action stays in view.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4800" y="395020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2. Studio: approve the storyboard, edit any scene, render, download or translate.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82127" y="39502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3. On a phone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6616" y="45720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5F6368"/>
                </a:solidFill>
                <a:latin typeface="Google Sans Flex"/>
              </a:rPr>
              <a:t>Screens from the working prototype, not mock-ups.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56616" y="128016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466344" y="135331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Users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6344" y="1609343"/>
            <a:ext cx="1380744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Browser or phone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56616" y="23774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66344" y="245059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Firebase Hosting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6344" y="2706624"/>
            <a:ext cx="1380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Serves the web app from a CDN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1984248" y="1828800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2167128" y="128016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202124"/>
            </a:solidFill>
          </a:ln>
        </p:spPr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276856" y="1353312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Cloud Run · API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76856" y="1609343"/>
            <a:ext cx="151790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Public, stateless. Passcode and spending caps. Saves projects, queues work. Never renders.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3931920" y="1828800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" name="Rounded Rectangle 122"/>
          <p:cNvSpPr/>
          <p:nvPr/>
        </p:nvSpPr>
        <p:spPr>
          <a:xfrm>
            <a:off x="4114800" y="128016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4224528" y="1353312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Cloud Tasks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24528" y="1609343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Durable queue: retries, rate limits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5047488" y="2130552"/>
            <a:ext cx="146304" cy="146304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" name="Rounded Rectangle 126"/>
          <p:cNvSpPr/>
          <p:nvPr/>
        </p:nvSpPr>
        <p:spPr>
          <a:xfrm>
            <a:off x="4114800" y="2304288"/>
            <a:ext cx="2011680" cy="98755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202124"/>
            </a:solidFill>
          </a:ln>
        </p:spPr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224528" y="2377440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Cloud Run · worker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24528" y="2633472"/>
            <a:ext cx="17922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Private. Writes, narrates and renders scenes in parallel; checks, assembles, watermarks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6153912" y="2697480"/>
            <a:ext cx="146304" cy="14630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" name="Rounded Rectangle 130"/>
          <p:cNvSpPr/>
          <p:nvPr/>
        </p:nvSpPr>
        <p:spPr>
          <a:xfrm>
            <a:off x="6336792" y="1280160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446520" y="1353312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A73E8"/>
                </a:solidFill>
                <a:latin typeface="Google Sans Flex SemiBold"/>
              </a:rPr>
              <a:t>Gemini API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46520" y="1609343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Gemini 3.1 Pro · 3.5 Flash · Nano Banana · Veo 3.1 · Gemini TTS · Lyria 3 · Google Search grounding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336792" y="2560320"/>
            <a:ext cx="2450592" cy="7315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6446520" y="2633472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D93025"/>
                </a:solidFill>
                <a:latin typeface="Google Sans Flex SemiBold"/>
              </a:rPr>
              <a:t>Cloud Run GPU (NVIDIA L4)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446520" y="2889503"/>
            <a:ext cx="2231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Cloned voices; off when idle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167128" y="3474720"/>
            <a:ext cx="39593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2276856" y="35204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202124"/>
                </a:solidFill>
                <a:latin typeface="Google Sans Flex SemiBold"/>
              </a:rPr>
              <a:t>Firestore · Cloud Storage · Secret Manager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276856" y="377647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3C4043"/>
                </a:solidFill>
                <a:latin typeface="Google Sans Flex"/>
              </a:rPr>
              <a:t>Project state · videos and images · API and watermark keys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56616" y="4315968"/>
            <a:ext cx="8430768" cy="50292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502920" y="431596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F9AB00"/>
                </a:solidFill>
                <a:latin typeface="Google Sans Flex SemiBold"/>
              </a:rPr>
              <a:t>Delivery  </a:t>
            </a:r>
            <a:r>
              <a:rPr sz="1000">
                <a:solidFill>
                  <a:srgbClr val="FFFFFF"/>
                </a:solidFill>
                <a:latin typeface="Google Sans Flex"/>
              </a:rPr>
              <a:t>GitHub Actions → keyless sign-in → Cloud Build → Artifact Registry → test copy checked live → released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56616" y="1234440"/>
            <a:ext cx="2724912" cy="3182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521208" y="1399032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740664" y="1335024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Google AI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21208" y="1783080"/>
            <a:ext cx="10899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21208" y="1783080"/>
            <a:ext cx="10899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Gemini 3.1 Pro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684324" y="1783080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684324" y="1783080"/>
            <a:ext cx="121432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Gemini 3.5 Flash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21208" y="2167128"/>
            <a:ext cx="90342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521208" y="2167128"/>
            <a:ext cx="90342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Nano Banana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497787" y="2167128"/>
            <a:ext cx="65471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1497787" y="2167128"/>
            <a:ext cx="65471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Veo 3.1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21208" y="255117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521208" y="2551176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Gemini TTS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435608" y="2551176"/>
            <a:ext cx="65471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435608" y="2551176"/>
            <a:ext cx="65471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Lyria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21208" y="2935224"/>
            <a:ext cx="164957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521208" y="2935224"/>
            <a:ext cx="164957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Google Search grounding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21208" y="3319272"/>
            <a:ext cx="196047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521208" y="3319272"/>
            <a:ext cx="19604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SynthID (on generated media)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209544" y="1234440"/>
            <a:ext cx="2724912" cy="3182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3374136" y="1399032"/>
            <a:ext cx="128016" cy="12801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3593592" y="1335024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Google Cloud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374136" y="1783080"/>
            <a:ext cx="7790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374136" y="1783080"/>
            <a:ext cx="7790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Run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26356" y="1783080"/>
            <a:ext cx="13386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226356" y="1783080"/>
            <a:ext cx="133868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Run GPU (L4)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74136" y="2167128"/>
            <a:ext cx="90342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3374136" y="2167128"/>
            <a:ext cx="90342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Tasks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50715" y="2167128"/>
            <a:ext cx="7790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4350715" y="2167128"/>
            <a:ext cx="7790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Firestore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374136" y="2551176"/>
            <a:ext cx="10277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374136" y="2551176"/>
            <a:ext cx="102778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Storage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75073" y="2551176"/>
            <a:ext cx="10899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475073" y="2551176"/>
            <a:ext cx="10899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Secret Manager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74136" y="2935224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3374136" y="2935224"/>
            <a:ext cx="121432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Firebase Hosting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61611" y="2935224"/>
            <a:ext cx="90342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661611" y="2935224"/>
            <a:ext cx="90342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Build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374136" y="3319272"/>
            <a:ext cx="127650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3374136" y="3319272"/>
            <a:ext cx="127650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Artifact Registry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374136" y="3703320"/>
            <a:ext cx="196047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3374136" y="3703320"/>
            <a:ext cx="19604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Workload Identity Federation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374136" y="4087368"/>
            <a:ext cx="15252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3374136" y="4087368"/>
            <a:ext cx="15252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Cloud Billing budgets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62472" y="1234440"/>
            <a:ext cx="2724912" cy="318211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6227064" y="1399032"/>
            <a:ext cx="128016" cy="12801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6446520" y="1335024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Open source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227064" y="1783080"/>
            <a:ext cx="65471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6227064" y="1783080"/>
            <a:ext cx="65471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FastAPI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54926" y="1783080"/>
            <a:ext cx="65471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6954926" y="1783080"/>
            <a:ext cx="65471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Next.js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682788" y="1783080"/>
            <a:ext cx="5303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7682788" y="1783080"/>
            <a:ext cx="5303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Manim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227064" y="2167128"/>
            <a:ext cx="59253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227064" y="2167128"/>
            <a:ext cx="59253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ffmpeg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892747" y="2167128"/>
            <a:ext cx="7790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892747" y="2167128"/>
            <a:ext cx="7790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OmniVoice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227064" y="2551176"/>
            <a:ext cx="10277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6227064" y="2551176"/>
            <a:ext cx="102778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Natural Earth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328001" y="2551176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7328001" y="2551176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Headless Chrome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227064" y="2935224"/>
            <a:ext cx="59253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6227064" y="2935224"/>
            <a:ext cx="59253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>
                <a:solidFill>
                  <a:srgbClr val="202124"/>
                </a:solidFill>
                <a:latin typeface="Google Sans Flex Medium"/>
              </a:rPr>
              <a:t>OpenCV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56616" y="455371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5F6368"/>
                </a:solidFill>
                <a:latin typeface="Google Sans Flex"/>
              </a:rPr>
              <a:t>Everything runs on Google Cloud in asia-southeast1 (Singapore); all AI calls go through the Gemini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8" name="Chart 127"/>
          <p:cNvGraphicFramePr>
            <a:graphicFrameLocks noGrp="1"/>
          </p:cNvGraphicFramePr>
          <p:nvPr/>
        </p:nvGraphicFramePr>
        <p:xfrm>
          <a:off x="274320" y="1188720"/>
          <a:ext cx="4846320" cy="342900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5349240" y="1207008"/>
            <a:ext cx="3438144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504688" y="128016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202124"/>
                </a:solidFill>
                <a:latin typeface="Google Sans Flex SemiBold"/>
              </a:rPr>
              <a:t>$0.80–2.80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504688" y="16367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model cost per finished video, logged per call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349240" y="2057400"/>
            <a:ext cx="3438144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504688" y="213055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202124"/>
                </a:solidFill>
                <a:latin typeface="Google Sans Flex SemiBold"/>
              </a:rPr>
              <a:t>$0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04688" y="2487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compute when idle: every service scales to zero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349240" y="2907792"/>
            <a:ext cx="3438144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5504688" y="2980944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202124"/>
                </a:solidFill>
                <a:latin typeface="Google Sans Flex SemiBold"/>
              </a:rPr>
              <a:t>42% · 31% · 24%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04688" y="3337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Veo clips · images · Gemini text (share of spend)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349240" y="3758184"/>
            <a:ext cx="3438144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5504688" y="3831336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202124"/>
                </a:solidFill>
                <a:latin typeface="Google Sans Flex SemiBold"/>
              </a:rPr>
              <a:t>$5 / $25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04688" y="4187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hard caps per video and per day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6616" y="468172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F6368"/>
                </a:solidFill>
                <a:latin typeface="Google Sans Flex"/>
              </a:rPr>
              <a:t>Estimates from Google's published Gemini API rates, logged by the app for every call. Cloned-voice GPU time is billed only while narrating (about $1 an hour when on, our estimate).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res_tsunami.jpg"/>
          <p:cNvPicPr>
            <a:picLocks noChangeAspect="1"/>
          </p:cNvPicPr>
          <p:nvPr/>
        </p:nvPicPr>
        <p:blipFill>
          <a:blip r:embed="rId5"/>
          <a:srcRect t="1678" b="1678"/>
          <a:stretch>
            <a:fillRect/>
          </a:stretch>
        </p:blipFill>
        <p:spPr>
          <a:xfrm>
            <a:off x="356616" y="1188720"/>
            <a:ext cx="2724912" cy="148132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356616" y="272491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Woodblock look · how a tsunami forms</a:t>
            </a:r>
          </a:p>
        </p:txBody>
      </p:sp>
      <p:pic>
        <p:nvPicPr>
          <p:cNvPr id="138" name="Picture 137" descr="res_vaccine.jpg"/>
          <p:cNvPicPr>
            <a:picLocks noChangeAspect="1"/>
          </p:cNvPicPr>
          <p:nvPr/>
        </p:nvPicPr>
        <p:blipFill>
          <a:blip r:embed="rId6"/>
          <a:srcRect t="34711" b="34711"/>
          <a:stretch>
            <a:fillRect/>
          </a:stretch>
        </p:blipFill>
        <p:spPr>
          <a:xfrm>
            <a:off x="3209544" y="1188720"/>
            <a:ext cx="2724912" cy="1481328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209544" y="272491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Vertical Short · vaccines, with a presenter</a:t>
            </a:r>
          </a:p>
        </p:txBody>
      </p:sp>
      <p:pic>
        <p:nvPicPr>
          <p:cNvPr id="140" name="Picture 139" descr="res_hindi.jpg"/>
          <p:cNvPicPr>
            <a:picLocks noChangeAspect="1"/>
          </p:cNvPicPr>
          <p:nvPr/>
        </p:nvPicPr>
        <p:blipFill>
          <a:blip r:embed="rId7"/>
          <a:srcRect t="1678" b="1678"/>
          <a:stretch>
            <a:fillRect/>
          </a:stretch>
        </p:blipFill>
        <p:spPr>
          <a:xfrm>
            <a:off x="6062472" y="1188720"/>
            <a:ext cx="2724912" cy="148132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6062472" y="272491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Hindi version · labels redrawn in Devanagari</a:t>
            </a:r>
          </a:p>
        </p:txBody>
      </p:sp>
      <p:pic>
        <p:nvPicPr>
          <p:cNvPr id="142" name="Picture 141" descr="manim.jpg"/>
          <p:cNvPicPr>
            <a:picLocks noChangeAspect="1"/>
          </p:cNvPicPr>
          <p:nvPr/>
        </p:nvPicPr>
        <p:blipFill>
          <a:blip r:embed="rId8"/>
          <a:srcRect t="1678" b="1678"/>
          <a:stretch>
            <a:fillRect/>
          </a:stretch>
        </p:blipFill>
        <p:spPr>
          <a:xfrm>
            <a:off x="356616" y="3035808"/>
            <a:ext cx="2724912" cy="148132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356616" y="45720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Math animation, drawn by code</a:t>
            </a:r>
          </a:p>
        </p:txBody>
      </p:sp>
      <p:pic>
        <p:nvPicPr>
          <p:cNvPr id="144" name="Picture 143" descr="globe.jpg"/>
          <p:cNvPicPr>
            <a:picLocks noChangeAspect="1"/>
          </p:cNvPicPr>
          <p:nvPr/>
        </p:nvPicPr>
        <p:blipFill>
          <a:blip r:embed="rId9"/>
          <a:srcRect t="1678" b="1678"/>
          <a:stretch>
            <a:fillRect/>
          </a:stretch>
        </p:blipFill>
        <p:spPr>
          <a:xfrm>
            <a:off x="3209544" y="3035808"/>
            <a:ext cx="2724912" cy="148132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3209544" y="45720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Real map data · the Strait of Hormuz</a:t>
            </a:r>
          </a:p>
        </p:txBody>
      </p:sp>
      <p:pic>
        <p:nvPicPr>
          <p:cNvPr id="146" name="Picture 145" descr="tit_2_veo.jpg"/>
          <p:cNvPicPr>
            <a:picLocks noChangeAspect="1"/>
          </p:cNvPicPr>
          <p:nvPr/>
        </p:nvPicPr>
        <p:blipFill>
          <a:blip r:embed="rId10"/>
          <a:srcRect t="1678" b="1678"/>
          <a:stretch>
            <a:fillRect/>
          </a:stretch>
        </p:blipFill>
        <p:spPr>
          <a:xfrm>
            <a:off x="6062472" y="3035808"/>
            <a:ext cx="2724912" cy="1481328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6062472" y="4572000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Veo clip from an on-model first frame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56616" y="11887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02920" y="12618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>
                <a:solidFill>
                  <a:srgbClr val="1A73E8"/>
                </a:solidFill>
                <a:latin typeface="Google Sans Flex SemiBold"/>
              </a:rP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1737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finished videos, 116 scenes, 3 languages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96312" y="11887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642616" y="12618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>
                <a:solidFill>
                  <a:srgbClr val="D93025"/>
                </a:solidFill>
                <a:latin typeface="Google Sans Flex SemiBold"/>
              </a:rPr>
              <a:t>62%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42616" y="1737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of scenes drawn from data and code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36008" y="11887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782312" y="12618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>
                <a:solidFill>
                  <a:srgbClr val="F9AB00"/>
                </a:solidFill>
                <a:latin typeface="Google Sans Flex SemiBold"/>
              </a:rPr>
              <a:t>4–9 min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82312" y="1737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to render a one-minute video, unattended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75704" y="11887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922008" y="12618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>
                <a:solidFill>
                  <a:srgbClr val="188038"/>
                </a:solidFill>
                <a:latin typeface="Google Sans Flex SemiBold"/>
              </a:rPr>
              <a:t>126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22008" y="17373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3C4043"/>
                </a:solidFill>
                <a:latin typeface="Google Sans Flex"/>
              </a:rPr>
              <a:t>automated tests, run on every change</a:t>
            </a:r>
          </a:p>
        </p:txBody>
      </p:sp>
      <p:graphicFrame>
        <p:nvGraphicFramePr>
          <p:cNvPr id="156" name="Table 155"/>
          <p:cNvGraphicFramePr>
            <a:graphicFrameLocks noGrp="1"/>
          </p:cNvGraphicFramePr>
          <p:nvPr/>
        </p:nvGraphicFramePr>
        <p:xfrm>
          <a:off x="356616" y="2377440"/>
          <a:ext cx="843076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961888"/>
              </a:tblGrid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Measure</a:t>
                      </a:r>
                    </a:p>
                  </a:txBody>
                  <a:tcPr marL="109728" marR="109728" marT="45720" marB="45720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Result</a:t>
                      </a:r>
                    </a:p>
                  </a:txBody>
                  <a:tcPr marL="109728" marR="109728" marT="45720" marB="45720" anchor="ctr">
                    <a:solidFill>
                      <a:srgbClr val="2021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Cloned narration (Cloud Run GPU)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18 to 46 s for the first line after idle (GPU start); 0.7 to 6 s per line when warm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Fact check (Hormuz video)</a:t>
                      </a:r>
                    </a:p>
                  </a:txBody>
                  <a:tcPr marL="109728" marR="109728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All 9 checkable claims supported, 12 web sources</a:t>
                      </a:r>
                    </a:p>
                  </a:txBody>
                  <a:tcPr marL="109728" marR="109728" marT="45720" marB="45720" anchor="ctr">
                    <a:solidFill>
                      <a:srgbClr val="F1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Watermark robustness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Read back after re-encoding (crf 34), 480p, 30 to 24 fps and a trimmed start; ~7 s to verify a 46 s video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Release safety</a:t>
                      </a:r>
                    </a:p>
                  </a:txBody>
                  <a:tcPr marL="109728" marR="109728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Each release is a test copy first; goes live only after a live check of the database, a model call, the watermark and the voice GPU</a:t>
                      </a:r>
                    </a:p>
                  </a:txBody>
                  <a:tcPr marL="109728" marR="109728" marT="45720" marB="45720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356616" y="1252728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7240" y="12070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Google Drive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7240" y="14721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Import sources from Drive and save finished videos to it</a:t>
            </a:r>
          </a:p>
        </p:txBody>
      </p:sp>
      <p:sp>
        <p:nvSpPr>
          <p:cNvPr id="155" name="Oval 154"/>
          <p:cNvSpPr/>
          <p:nvPr/>
        </p:nvSpPr>
        <p:spPr>
          <a:xfrm>
            <a:off x="356616" y="1856231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7240" y="18105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A fully flexible video editor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77240" y="20756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Timeline editing on top of the AI storyboard</a:t>
            </a:r>
          </a:p>
        </p:txBody>
      </p:sp>
      <p:sp>
        <p:nvSpPr>
          <p:cNvPr id="158" name="Oval 157"/>
          <p:cNvSpPr/>
          <p:nvPr/>
        </p:nvSpPr>
        <p:spPr>
          <a:xfrm>
            <a:off x="356616" y="2459736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77240" y="241401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Sign-in and private workspaces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7240" y="26791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Firebase Authentication, for schools and teams</a:t>
            </a:r>
          </a:p>
        </p:txBody>
      </p:sp>
      <p:sp>
        <p:nvSpPr>
          <p:cNvPr id="161" name="Oval 160"/>
          <p:cNvSpPr/>
          <p:nvPr/>
        </p:nvSpPr>
        <p:spPr>
          <a:xfrm>
            <a:off x="356616" y="3063239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77240" y="3017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More languages and voices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77240" y="328269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Regional voices and subject glossaries</a:t>
            </a:r>
          </a:p>
        </p:txBody>
      </p:sp>
      <p:sp>
        <p:nvSpPr>
          <p:cNvPr id="164" name="Oval 163"/>
          <p:cNvSpPr/>
          <p:nvPr/>
        </p:nvSpPr>
        <p:spPr>
          <a:xfrm>
            <a:off x="356616" y="366674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77240" y="36210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Publish straight to YouTube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7240" y="3886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3C4043"/>
                </a:solidFill>
                <a:latin typeface="Google Sans Flex"/>
              </a:rPr>
              <a:t>And to learning platforms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760720" y="1207008"/>
            <a:ext cx="3026664" cy="27432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5925312" y="1344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Known limits today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925312" y="1737360"/>
            <a:ext cx="272491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050">
                <a:solidFill>
                  <a:srgbClr val="3C4043"/>
                </a:solidFill>
                <a:latin typeface="Google Sans Flex"/>
              </a:rPr>
              <a:t>No user accounts yet; creating needs a shared passcode</a:t>
            </a:r>
          </a:p>
          <a:p>
            <a:pPr algn="l">
              <a:spcAft>
                <a:spcPts val="800"/>
              </a:spcAft>
            </a:pPr>
            <a:r>
              <a:rPr sz="105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050">
                <a:solidFill>
                  <a:srgbClr val="3C4043"/>
                </a:solidFill>
                <a:latin typeface="Google Sans Flex"/>
              </a:rPr>
              <a:t>The first cloned-voice line after idle waits for the GPU to start</a:t>
            </a:r>
          </a:p>
          <a:p>
            <a:pPr algn="l">
              <a:spcAft>
                <a:spcPts val="800"/>
              </a:spcAft>
            </a:pPr>
            <a:r>
              <a:rPr sz="105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050">
                <a:solidFill>
                  <a:srgbClr val="3C4043"/>
                </a:solidFill>
                <a:latin typeface="Google Sans Flex"/>
              </a:rPr>
              <a:t>Fact checks reduce errors but cannot remove them all; flagged claims are shown</a:t>
            </a:r>
          </a:p>
          <a:p>
            <a:pPr algn="l">
              <a:spcAft>
                <a:spcPts val="800"/>
              </a:spcAft>
            </a:pPr>
            <a:r>
              <a:rPr sz="1050">
                <a:solidFill>
                  <a:srgbClr val="D93025"/>
                </a:solidFill>
                <a:latin typeface="Google Sans Flex SemiBold"/>
              </a:rPr>
              <a:t>•  </a:t>
            </a:r>
            <a:r>
              <a:rPr sz="1050">
                <a:solidFill>
                  <a:srgbClr val="3C4043"/>
                </a:solidFill>
                <a:latin typeface="Google Sans Flex"/>
              </a:rPr>
              <a:t>Heavy cropping or editing can remove the watermark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56616" y="1280160"/>
            <a:ext cx="8430768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548640" y="1536192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60120" y="138988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GitHub public 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60120" y="1682495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A73E8"/>
                </a:solidFill>
                <a:latin typeface="Google Sans Flex"/>
                <a:hlinkClick r:id="rId5"/>
              </a:rPr>
              <a:t>github.com/VirajSawad1021/MitraField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56616" y="2194560"/>
            <a:ext cx="8430768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548640" y="2450591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960120" y="230428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Demo video (2:08)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0120" y="259689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A73E8"/>
                </a:solidFill>
                <a:latin typeface="Google Sans Flex"/>
                <a:hlinkClick r:id="rId6"/>
              </a:rPr>
              <a:t>github.com/VirajSawad1021/MitraField/blob/main/docs/demo-video/MitraField_Demo.mp4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56616" y="3108960"/>
            <a:ext cx="8430768" cy="7498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48640" y="3364991"/>
            <a:ext cx="237744" cy="237744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960120" y="321868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Final product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60120" y="351129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A73E8"/>
                </a:solidFill>
                <a:latin typeface="Google Sans Flex"/>
                <a:hlinkClick r:id="rId7"/>
              </a:rPr>
              <a:t>mitrafield-api-u6zih6e3hq-as.a.run.app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56616" y="416052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Browse the examples freely. Creating a video needs the passcode given in our submission 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itle"/>
          <p:cNvSpPr txBox="1"/>
          <p:nvPr/>
        </p:nvSpPr>
        <p:spPr>
          <a:xfrm>
            <a:off x="356616" y="758952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Google Sans Flex Medium"/>
              </a:rPr>
              <a:t>Responsible AI and trust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56616" y="1234440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21208" y="1417320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40664" y="135331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Fact check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21208" y="1737360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Every claim checked against your sources, then Google Search, with links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209544" y="1234440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3374136" y="1417320"/>
            <a:ext cx="128016" cy="128016"/>
          </a:xfrm>
          <a:prstGeom prst="ellipse">
            <a:avLst/>
          </a:prstGeom>
          <a:solidFill>
            <a:srgbClr val="6B4F8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593592" y="135331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AI labels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374136" y="1737360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Scenes with AI pictures are labelled; Veo and Nano Banana output carries SynthID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062472" y="1234440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6227064" y="1417320"/>
            <a:ext cx="128016" cy="12801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6446520" y="135331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Invisible watermark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27064" y="1737360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In every export; anyone can verify a copy on the Verify page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56616" y="2852928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521208" y="3035808"/>
            <a:ext cx="128016" cy="12801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40664" y="29718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No deepfakes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1208" y="3355848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Requests to fake a real person's words are refused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209544" y="2852928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3374136" y="3035808"/>
            <a:ext cx="128016" cy="128016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3593592" y="29718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Safe with uploads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374136" y="3355848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PDFs and notes are treated as data; model-written code runs in a sandbox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062472" y="2852928"/>
            <a:ext cx="2724912" cy="14813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6227064" y="3035808"/>
            <a:ext cx="128016" cy="12801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6446520" y="29718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202124"/>
                </a:solidFill>
                <a:latin typeface="Google Sans Flex SemiBold"/>
              </a:rPr>
              <a:t>Spending limits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227064" y="3355848"/>
            <a:ext cx="239572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3C4043"/>
                </a:solidFill>
                <a:latin typeface="Google Sans Flex"/>
              </a:rPr>
              <a:t>Every call priced and logged; caps of $5 a video and $25 a day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56616" y="45262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5F6368"/>
                </a:solidFill>
                <a:latin typeface="Google Sans Flex"/>
              </a:rPr>
              <a:t>Consent is required before a voice is cloned, and uploaded sources and voice samples are never public.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